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f31ea47754a0c" /><Relationship Type="http://schemas.openxmlformats.org/officeDocument/2006/relationships/extended-properties" Target="/docProps/app.xml" Id="R2265830dccf84a07" /><Relationship Type="http://schemas.openxmlformats.org/officeDocument/2006/relationships/officeDocument" Target="/ppt/presentation.xml" Id="Rc1695d8cedd341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c1f3a64f54623"/>
  </p:sldMasterIdLst>
  <p:notesMasterIdLst>
    <p:notesMasterId xmlns:r="http://schemas.openxmlformats.org/officeDocument/2006/relationships" r:id="R1d3f4299a7924147"/>
  </p:notesMasterIdLst>
  <p:sldIdLst>
    <p:sldId xmlns:r="http://schemas.openxmlformats.org/officeDocument/2006/relationships" id="256" r:id="Rf3f8bd7ee5ab4b1f"/>
    <p:sldId xmlns:r="http://schemas.openxmlformats.org/officeDocument/2006/relationships" id="257" r:id="R6b66e50725b9460c"/>
    <p:sldId xmlns:r="http://schemas.openxmlformats.org/officeDocument/2006/relationships" id="258" r:id="R5a06c16224584b94"/>
    <p:sldId xmlns:r="http://schemas.openxmlformats.org/officeDocument/2006/relationships" id="259" r:id="R1e882b7406854b69"/>
    <p:sldId xmlns:r="http://schemas.openxmlformats.org/officeDocument/2006/relationships" id="260" r:id="R312e972a59fc45d4"/>
    <p:sldId xmlns:r="http://schemas.openxmlformats.org/officeDocument/2006/relationships" id="261" r:id="R44b1b94187b04085"/>
    <p:sldId xmlns:r="http://schemas.openxmlformats.org/officeDocument/2006/relationships" id="262" r:id="R0aea456ab9e54448"/>
    <p:sldId xmlns:r="http://schemas.openxmlformats.org/officeDocument/2006/relationships" id="263" r:id="R65fe9a52a5984d55"/>
    <p:sldId xmlns:r="http://schemas.openxmlformats.org/officeDocument/2006/relationships" id="264" r:id="R5ffdcec78153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b8f2042ce49a6" /><Relationship Type="http://schemas.openxmlformats.org/officeDocument/2006/relationships/slideMaster" Target="/ppt/slideMasters/slideMaster1.xml" Id="R643c1f3a64f54623" /><Relationship Type="http://schemas.openxmlformats.org/officeDocument/2006/relationships/notesMaster" Target="/ppt/notesMasters/notesMaster1.xml" Id="R1d3f4299a7924147" /><Relationship Type="http://schemas.openxmlformats.org/officeDocument/2006/relationships/presProps" Target="/ppt/presProps.xml" Id="Rce966cc401b5460e" /><Relationship Type="http://schemas.openxmlformats.org/officeDocument/2006/relationships/tableStyles" Target="/ppt/tableStyles.xml" Id="R07e41238b48c41a4" /><Relationship Type="http://schemas.openxmlformats.org/officeDocument/2006/relationships/slide" Target="/ppt/slides/slide1.xml" Id="Rf3f8bd7ee5ab4b1f" /><Relationship Type="http://schemas.openxmlformats.org/officeDocument/2006/relationships/slide" Target="/ppt/slides/slide2.xml" Id="R6b66e50725b9460c" /><Relationship Type="http://schemas.openxmlformats.org/officeDocument/2006/relationships/slide" Target="/ppt/slides/slide3.xml" Id="R5a06c16224584b94" /><Relationship Type="http://schemas.openxmlformats.org/officeDocument/2006/relationships/slide" Target="/ppt/slides/slide4.xml" Id="R1e882b7406854b69" /><Relationship Type="http://schemas.openxmlformats.org/officeDocument/2006/relationships/slide" Target="/ppt/slides/slide5.xml" Id="R312e972a59fc45d4" /><Relationship Type="http://schemas.openxmlformats.org/officeDocument/2006/relationships/slide" Target="/ppt/slides/slide6.xml" Id="R44b1b94187b04085" /><Relationship Type="http://schemas.openxmlformats.org/officeDocument/2006/relationships/slide" Target="/ppt/slides/slide7.xml" Id="R0aea456ab9e54448" /><Relationship Type="http://schemas.openxmlformats.org/officeDocument/2006/relationships/slide" Target="/ppt/slides/slide8.xml" Id="R65fe9a52a5984d55" /><Relationship Type="http://schemas.openxmlformats.org/officeDocument/2006/relationships/slide" Target="/ppt/slides/slide9.xml" Id="R5ffdcec78153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2d2e07923641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468ee6655141c5" /><Relationship Type="http://schemas.openxmlformats.org/officeDocument/2006/relationships/notesMaster" Target="/ppt/notesMasters/notesMaster1.xml" Id="R9623b11b57cc4f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28a4689744c30" /><Relationship Type="http://schemas.openxmlformats.org/officeDocument/2006/relationships/notesMaster" Target="/ppt/notesMasters/notesMaster1.xml" Id="Rd47a0168ff7c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09f50f25f4fc3" /><Relationship Type="http://schemas.openxmlformats.org/officeDocument/2006/relationships/notesMaster" Target="/ppt/notesMasters/notesMaster1.xml" Id="R793b9159f31e47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bd81d3a7b04524" /><Relationship Type="http://schemas.openxmlformats.org/officeDocument/2006/relationships/notesMaster" Target="/ppt/notesMasters/notesMaster1.xml" Id="R5ef71cf8fb83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5700450654f63" /><Relationship Type="http://schemas.openxmlformats.org/officeDocument/2006/relationships/notesMaster" Target="/ppt/notesMasters/notesMaster1.xml" Id="Rf7fbff29ea9143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78423be4584553" /><Relationship Type="http://schemas.openxmlformats.org/officeDocument/2006/relationships/notesMaster" Target="/ppt/notesMasters/notesMaster1.xml" Id="R45d7d090c586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e0a8ea066e4283" /><Relationship Type="http://schemas.openxmlformats.org/officeDocument/2006/relationships/notesMaster" Target="/ppt/notesMasters/notesMaster1.xml" Id="R994a6ecae23c44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896d86d75f4980" /><Relationship Type="http://schemas.openxmlformats.org/officeDocument/2006/relationships/notesMaster" Target="/ppt/notesMasters/notesMaster1.xml" Id="R2b6ac253f95e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57f6d35a0444ec" /><Relationship Type="http://schemas.openxmlformats.org/officeDocument/2006/relationships/notesMaster" Target="/ppt/notesMasters/notesMaster1.xml" Id="R4016ef820fcd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Здравствуйте. Я расскажу о стажировке в Gidio, где я работала ручным тестировщиком с конца июня по конец сентября 2026 года. Gidio — стартап по разработке AI-гида для городских прогулок. Я участвовала в тестировании сайта, личного кабинета, Telegram- и MAX-ботов, а также mini app. Нагрузка составляла 20 часов в неделю, работа проходила преимущественно удалённо. Моим ментором был разработчик Давид Месропян. В докладе я покажу, как была организована работа, какие способы тестирования я применяла, какие дефекты находила и какой результат получила команда. Источник: сведения и скриншоты стажировки, предоставленные автором.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Gidio помогает превратить обычную прогулку в последовательный квест. Пользователь сообщает город, количество дней, состав компании, темп и интересы. Сервис формирует маршрут не как случайный список достопримечательностей, а как цепочку точек в удобном порядке. На каждой точке можно прочитать или прослушать короткую историю и задать вопрос в чате. Прогресс сохраняется между доступными платформами. Важная особенность продукта — собственная база мест. Адреса, координаты и факты проверяются командой, а непроверенные точки получают специальную отметку. Для тестировщика это означает большое количество связанных сценариев между интерфейсом, контентом, геоданными и мессенджерами. Источник: описание проекта и скриншоты, предоставленные автором.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проектной команде работали маркетолог, разработчик, дизайнер, тестировщик и специалист по кибербезопасности. Моим ментором был разработчик Давид Месропян. Такая структура позволяла быстро обсуждать дефекты с человеком, который непосредственно вносил изменения. Основное организационное общение проходило в Telegram-канале. Раз в неделю команда встречалась в кампусе Школы 21. На встрече мы разбирали текущее состояние продукта, проводили мозговой штурм и планировали задачи на следующую неделю. Если в течение недели возникал вопрос, который нельзя было решить перепиской, проводили общий созвон. Благодаря короткой коммуникации часть задач закрывалась без формального долгого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работе я применяла несколько видов ручного тестирования. Перед релизами проводила smoke-проверку критических функций, затем функциональное и регрессионное тестирование. После исправлений выполняла ретест и возвращала задачу, если проблема сохранялась. Исследовательское тестирование помогало находить дефекты вне готовых сценариев. Я проверяла позитивные и негативные действия, включая быстрые повторные клики. Совместимость проверяла в Safari, Chrome, Firefox, Edge и Яндекс Браузере, на десктопе и адаптивных разрешениях, а также на Android. Сквозные сценарии охватывали переходы между сайтом, Telegram, MAX, mini app и личным кабинетом. Для API использовала Postman, для анализа интерфейса и запросов — DevTools.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 с дефектом начиналась с воспроизведения. Я указывала окружение: стенд, браузер, операционную систему, устройство и разрешение экрана. Затем описывала последовательные шаги, фактический результат и ожидаемое поведение. На dev-стенде задача получала приоритет, метки, исполнителя и статус. После исправления я выполняла ретест. Если проблема сохранялась или проявлялась в другом варианте сценария, задача возвращалась на доработку. После закрытия важных дефектов я проверяла связанные функции в рамках регрессии. Такой подход позволял не только сообщить о проблеме, но и дать разработчику достаточный контекст для воспроизведения и проверки гипотезы.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время стажировки я завела 69 баг-репортов. На 26 сентября 63 задачи были отработаны и закрыты мной или разработчиком, ещё шесть оставались в работе. Часть из них должна была исчезнуть после следующей выкладки изменений. Из 63 закрытых задач 52 хотя бы один раз возвращались на доработку, а 11 были исправлены с первой попытки. Среднее время выполнения задачи составляло от трёх часов до трёх дней в зависимости от сложности и необходимости повторных проверок. Дополнительно я подготовила 12 тест-кейсов и 9 чек-листов. Мой итоговый вклад связан с исправлением визуальных и функциональных дефектов в шести релизах. Источник: данные автора и скриншот списка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Найденные дефекты относились к нескольким группам. В интерфейсе встречались неправильное переключение на мобильную версию, выход кнопки за границы экрана, неровные срезы фоновой заливки и некорректная работа чекбокса. В интеграционных сценариях я обнаружила неверный редирект после согласия на cookies, отсутствие session cookies при входе через MAX и отсутствие реакции бота на ссылку подтверждения. Негативные сценарии выявили дублирование итоговой записи при многократных кликах и rate-limit ошибку. Также встречались 500 Internal Server Error при сохранении изменений точки и проблемы с обработкой дублей в данных. Полный перечень хранится на dev-стенде; на слайде показаны основные примеры.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Самой интересной я считаю задачу, где бот MAX не реагировал на ссылку подтверждения входа на Android и OnePlus. Она потребовала пройти сквозной сценарий, сравнить вход по QR-коду и прямой ссылке, проверить несколько браузеров и исключить влияние VPN и настроек открытия ссылок. Эта задача понравилась тем, что нужно было не просто увидеть ошибку, а локализовать условия её появления. Менее любимой стала проверка неровных срезов фоновой заливки в Safari. Дефект был малозаметным и зависел от браузерного движка, разрешения и анимации, поэтому требовал многократных сравнений. При этом именно такая работа хорошо развивает внимательность и точность описания.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Стажировка дала мне полный практический цикл работы ручного тестировщика. Я начала со знакомства с документацией, получения доступов и настройки dev-стенда. Организовала рабочее пространство на компьютере и смартфонах, подготовила браузеры, приложения и VPN. В ходе работы освоила DevTools и углубила практику Postman, научилась выбирать приоритетные проверки и смотреть на проблему с точки зрения продукта и пользователя. Отдельным результатом стала командная коммуникация: нужно было понятно описывать дефекты, уточнять условия и спокойно возвращать задачи на доработку. Итоговый вклад — визуальные и функциональные исправления в шести релизах, 69 баг-репортов, 12 тест-кейсов и 9 чек-листов. Спасибо за внимание.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7f6c3dcbe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856bc89a34b5d" /><Relationship Type="http://schemas.openxmlformats.org/officeDocument/2006/relationships/slideLayout" Target="/ppt/slideLayouts/slideLayout1.xml" Id="R50536566bde4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36566bde4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4ba0235b549aa" /><Relationship Type="http://schemas.openxmlformats.org/officeDocument/2006/relationships/image" Target="/ppt/media/image.png" Id="R6d0d79cb7b4c467d" /><Relationship Type="http://schemas.openxmlformats.org/officeDocument/2006/relationships/notesSlide" Target="/ppt/notesSlides/notesSlide1.xml" Id="R9115ac40b655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a59013a584142" /><Relationship Type="http://schemas.openxmlformats.org/officeDocument/2006/relationships/image" Target="/ppt/media/image2.png" Id="R3afe51a6aaed4ef2" /><Relationship Type="http://schemas.openxmlformats.org/officeDocument/2006/relationships/notesSlide" Target="/ppt/notesSlides/notesSlide2.xml" Id="Rd03844b7389549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147de346a4883" /><Relationship Type="http://schemas.openxmlformats.org/officeDocument/2006/relationships/image" Target="/ppt/media/image3.png" Id="R7553a96dd803463c" /><Relationship Type="http://schemas.openxmlformats.org/officeDocument/2006/relationships/notesSlide" Target="/ppt/notesSlides/notesSlide3.xml" Id="Rc381569a2924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58878274411d" /><Relationship Type="http://schemas.openxmlformats.org/officeDocument/2006/relationships/image" Target="/ppt/media/image4.png" Id="Rf2bf4cb915674041" /><Relationship Type="http://schemas.openxmlformats.org/officeDocument/2006/relationships/notesSlide" Target="/ppt/notesSlides/notesSlide4.xml" Id="R059247051b5b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05b6d9d30448b" /><Relationship Type="http://schemas.openxmlformats.org/officeDocument/2006/relationships/image" Target="/ppt/media/image5.png" Id="R5522fb141e1f4e95" /><Relationship Type="http://schemas.openxmlformats.org/officeDocument/2006/relationships/notesSlide" Target="/ppt/notesSlides/notesSlide5.xml" Id="R6f1b917e09594e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b5053c6444dcc" /><Relationship Type="http://schemas.openxmlformats.org/officeDocument/2006/relationships/chart" Target="/ppt/slides/charts/chart1.xml" Id="R170c092a3e7743b8" /><Relationship Type="http://schemas.openxmlformats.org/officeDocument/2006/relationships/notesSlide" Target="/ppt/notesSlides/notesSlide6.xml" Id="R58893eb1297e49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545d127ce4f01" /><Relationship Type="http://schemas.openxmlformats.org/officeDocument/2006/relationships/image" Target="/ppt/media/image6.png" Id="Rb65f489c481c4c46" /><Relationship Type="http://schemas.openxmlformats.org/officeDocument/2006/relationships/notesSlide" Target="/ppt/notesSlides/notesSlide7.xml" Id="Ra5531f67806941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463f71b949f8" /><Relationship Type="http://schemas.openxmlformats.org/officeDocument/2006/relationships/image" Target="/ppt/media/image7.png" Id="R67abe6806fc64679" /><Relationship Type="http://schemas.openxmlformats.org/officeDocument/2006/relationships/image" Target="/ppt/media/image8.png" Id="R933176e3c19b44d8" /><Relationship Type="http://schemas.openxmlformats.org/officeDocument/2006/relationships/notesSlide" Target="/ppt/notesSlides/notesSlide8.xml" Id="R5a67af64e3344d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0800e0104f6e" /><Relationship Type="http://schemas.openxmlformats.org/officeDocument/2006/relationships/image" Target="/ppt/media/image9.png" Id="Rbf36622078f44479" /><Relationship Type="http://schemas.openxmlformats.org/officeDocument/2006/relationships/notesSlide" Target="/ppt/notesSlides/notesSlide9.xml" Id="Ra0466ff07dc74e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Баг-репорты</c:v>
          </c:tx>
          <c:dPt>
            <c:idx val="0"/>
            <c:spPr>
              <a:solidFill xmlns:a="http://schemas.openxmlformats.org/drawingml/2006/main">
                <a:srgbClr val="146EF5"/>
              </a:solidFill>
              <a:ln xmlns:a="http://schemas.openxmlformats.org/drawingml/2006/main" w="0">
                <a:solidFill>
                  <a:srgbClr val="146EF5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DCE6F8"/>
              </a:solidFill>
              <a:ln xmlns:a="http://schemas.openxmlformats.org/drawingml/2006/main" w="0">
                <a:solidFill>
                  <a:srgbClr val="DCE6F8"/>
                </a:solidFill>
              </a:ln>
            </c:spPr>
          </c:dPt>
          <c:cat>
            <c:strRef>
              <c:f>'Chart Data'!$A$2:$A$3</c:f>
              <c:strCache>
                <c:ptCount val="2"/>
                <c:pt idx="0">
                  <c:v>Закрыто</c:v>
                </c:pt>
                <c:pt idx="1">
                  <c:v>В работе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63</c:v>
                </c:pt>
                <c:pt idx="1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A3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270"/>
        <c:holeSize val="64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6708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67549-2E63-42A6-9D6F-5EF955B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4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25"/>
          </a:solidFill>
          <a:ln xmlns:a="http://schemas.openxmlformats.org/drawingml/2006/main" w="0">
            <a:noFill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d79cb7b4c467d"/>
          <a:srcRect xmlns:a="http://schemas.openxmlformats.org/drawingml/2006/main" l="23232" t="0" r="23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F5FD5-4E8F-410D-B875-849EB1C2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Стажировка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Gidio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18B4-1627-409B-89D2-0C4B171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FD3FF"/>
                </a:solidFill>
                <a:latin typeface="Helvetica Neue"/>
                <a:ea typeface="Helvetica Neue"/>
                <a:cs typeface="Helvetica Neue"/>
              </a:rPr>
              <a:t>Ручное тестирование AI-гида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B19E5-B26D-42BB-BCD4-CFD90773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 июня — 30 сентября 2026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часов в неделю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Ментор: Давид Месропян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78A1B-084D-41FE-9101-EE6C5E02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D3FF"/>
                </a:solidFill>
                <a:latin typeface="Helvetica Neue"/>
                <a:ea typeface="Helvetica Neue"/>
                <a:cs typeface="Helvetica Neue"/>
              </a:rPr>
              <a:t>Сайт  ·  Telegram  ·  MAX  ·  mini app</a:t>
            </a:r>
          </a:p>
        </p:txBody>
      </p:sp>
    </p:spTree>
    <p:extLst>
      <p:ext uri="{BB962C8B-B14F-4D97-AF65-F5344CB8AC3E}">
        <p14:creationId xmlns:p14="http://schemas.microsoft.com/office/powerpoint/2010/main" val="1732428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3B62E-3B90-4F3E-B356-8358A0C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Gidio превращает прогулку в последовательный квест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D661-9920-4F26-933A-5E8DAB1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Маршрут учитывает время, компанию, темп и интересы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10E62-EFB3-43A6-96B8-C83029C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B453A-F7D0-48C8-B409-2516176C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Как работает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97E5-187C-4843-B9EA-D5F8F3A4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Пользователь выбирает город и параметры прогулки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AI собирает точки в удобный маршрут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На каждой точке доступны текст, озвучка и чат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Прогресс сохраняется между платформами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База адресов, координат и фактов проходит проверку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B4AA-C2B6-40C9-BC1E-E602FBF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Ценность для пользователя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EB76B-36C3-4DF9-94C7-035D5C49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Меньше планирования, больше связных впечатлений от города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e51a6aaed4ef2"/>
          <a:srcRect xmlns:a="http://schemas.openxmlformats.org/drawingml/2006/main" l="17877" t="0" r="17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1619250"/>
            <a:ext cx="6048375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63CD6-BC41-4CEA-B4AD-CF98840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2</a:t>
            </a:r>
          </a:p>
        </p:txBody>
      </p:sp>
    </p:spTree>
    <p:extLst>
      <p:ext uri="{BB962C8B-B14F-4D97-AF65-F5344CB8AC3E}">
        <p14:creationId xmlns:p14="http://schemas.microsoft.com/office/powerpoint/2010/main" val="458010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2956E-2A54-46A0-BDB3-4CC9568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Команда и рабочий ритм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E5006-82AB-43F9-AAE3-44CED8F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Небольшая кросс-функциональная команда и короткий цикл обратной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6FF47-F979-4D04-BBE9-ED28FB9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2B7C7-D542-4C69-A021-2801703F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F5824-BC41-4B07-BD63-741317E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Маркетолог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Разработчик и ментор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Дизайнер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Специалист по кибербезопасности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C13A3-33CF-43D0-AFEC-6F8E80A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Организация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6687C-6638-4FC0-8220-8A49076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Telegram для текущих вопросов. Еженедельный очный митап в кампусе Школы 21: мозговой штурм и планирование. Дополнительные созвоны по необходимости.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3a96dd803463c"/>
          <a:srcRect xmlns:a="http://schemas.openxmlformats.org/drawingml/2006/main" l="15817" t="0" r="158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638300"/>
            <a:ext cx="58102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B6351-06D5-48D4-B4C3-C24DC34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3</a:t>
            </a:r>
          </a:p>
        </p:txBody>
      </p:sp>
    </p:spTree>
    <p:extLst>
      <p:ext uri="{BB962C8B-B14F-4D97-AF65-F5344CB8AC3E}">
        <p14:creationId xmlns:p14="http://schemas.microsoft.com/office/powerpoint/2010/main" val="450529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C50D5-FEBA-4EFC-866E-0798D116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Способы ручного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760DF-6D01-4218-9BDB-CBDEF5E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Проверки охватывали интерфейс, пользовательские сценарии, интеграции и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92835-50C7-434E-84D5-8EDD28D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452E2-29E9-4354-B29C-ED0A3FD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Функции и релизы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057D5-3CF4-4B7F-92DF-3FAC4A8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Функциональное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Smoke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Регрессионное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Ретест исправлений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4840A-B807-41D5-B700-810960BD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Сценарии и риски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33350-03C7-41A4-81AD-97CC11B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Исследовательское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Позитивное и негативное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Повторные клики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Сквозные сценарии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E5AA0-9E50-4976-BAE6-388E4A5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Совместимость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10A10-6057-4313-8FCC-29D7652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9550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Кроссбраузерное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Адаптивная вёрстка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macOS и Android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Telegram и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E4AF5-9D6E-4039-80F6-F1BD3E97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Интерфейс и 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19BB4-9C6D-4B44-972B-8762F05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UI и визуальные дефекты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Cookies и авторизация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Postman и API</a:t>
            </a:r>
          </a:p>
          <a:p xmlns:a="http://schemas.openxmlformats.org/drawingml/2006/main">
            <a:pPr algn="l">
              <a:def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DevTools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f4cb915674041"/>
          <a:srcRect xmlns:a="http://schemas.openxmlformats.org/drawingml/2006/main" l="0" t="29555" r="0" b="29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857625"/>
            <a:ext cx="10839450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2BCDA-1477-4990-924B-A5B2DCB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4</a:t>
            </a:r>
          </a:p>
        </p:txBody>
      </p:sp>
    </p:spTree>
    <p:extLst>
      <p:ext uri="{BB962C8B-B14F-4D97-AF65-F5344CB8AC3E}">
        <p14:creationId xmlns:p14="http://schemas.microsoft.com/office/powerpoint/2010/main" val="1786023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15314-7812-45BD-9732-4964D8E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Работа с дефектом на dev стенде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EC37-58C0-48A2-9BA8-21F92AB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От воспроизведения до закрытия и регрессионной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E37A-6DC0-447D-ADDD-9BB6C781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C24A-1352-48D8-BCD0-D8DF3DF8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34523-5DCF-4D36-9C21-76B5D843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Воспроизвести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4332-4D74-4641-9A3E-F9F5B106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33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Зафиксировать окружение и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972A6-0980-47F8-B5F4-B26F97C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42D03-7781-415B-B412-2073E7E5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Описать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6540C-B5A3-4851-84C4-A36C5AB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Шаги, фактический и ожидаемый 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2377-38BF-4800-944E-F1379D8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67F87-8483-42EA-9AD8-9433A903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19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Назначить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CB230-7920-4B92-BDC1-1B659EE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Приоритет, исполнитель и статус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CA36E-8280-42E1-B96E-C088621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4AA40-29F5-4A2A-877E-715A821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Проверить исправление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A6DD8-E7E4-4CFA-9F80-0C719C5C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62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Ретест, возврат или закрытие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0090B-6E7D-4FB4-8DDA-64A86812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FD1BC-848D-4108-BE9C-69696D2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72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Проверить релиз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E9A01-162D-4261-8E88-A336C253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38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Регрессия связанных сценариев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2fb141e1f4e95"/>
          <a:stretch xmlns:a="http://schemas.openxmlformats.org/drawingml/2006/main"/>
        </p:blipFill>
        <p:spPr>
          <a:xfrm xmlns:a="http://schemas.openxmlformats.org/drawingml/2006/main">
            <a:off x="5717883" y="1638300"/>
            <a:ext cx="5375859" cy="4429125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4BDD8-A9E8-446D-AF48-2CBBD0F9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5</a:t>
            </a:r>
          </a:p>
        </p:txBody>
      </p:sp>
    </p:spTree>
    <p:extLst>
      <p:ext uri="{BB962C8B-B14F-4D97-AF65-F5344CB8AC3E}">
        <p14:creationId xmlns:p14="http://schemas.microsoft.com/office/powerpoint/2010/main" val="1860667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EBDAA-BFBC-4C27-9FFF-42407AC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Результаты стажировки в цифрах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D93A6-E545-467D-AC99-B005ED6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Статус на 26 сентября 2026 года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1DB6A-B749-47BD-AF9D-E9CB9CD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4953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0c092a3e7743b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AFC49-83E9-4CDC-8B52-1EEB13E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152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C033B-2D09-472A-8FD9-770DA824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заведённых баг-репортов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D215F-4DD8-47EB-98E9-505EA11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78BF-6F8C-45A6-B399-637E32CA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возвращались на доработку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F9D87-2A7D-4A35-B9E6-C31347E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1A1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1A17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4CC93-9702-4028-8EEF-BA236097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исправлены с первой попытки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27C0A-1088-440E-8E28-E592E75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12 тест-кейсов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C718A-A4DF-42AB-B1CF-3889514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9 чек-листов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07CCC-E2B1-4695-A18B-9DEE518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Среднее время задачи: от 3 часов до 3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A0099-3F76-404F-A59D-934AC89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57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6 релизов с исправлениями визуальных и функциональных дефектов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F635D-B5CE-4A31-9A84-678487EE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6</a:t>
            </a:r>
          </a:p>
        </p:txBody>
      </p:sp>
    </p:spTree>
    <p:extLst>
      <p:ext uri="{BB962C8B-B14F-4D97-AF65-F5344CB8AC3E}">
        <p14:creationId xmlns:p14="http://schemas.microsoft.com/office/powerpoint/2010/main" val="9517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011FE-4595-4E46-A709-07A5C42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Примеры найденных дефектов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150BD-CF71-4B38-AF8F-A88DB9A1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Проблемы затрагивали интерфейс, авторизацию, данные и устойчивость сценариев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7EDC1-3C5C-4491-A0BA-4580DB1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f489c481c4c46"/>
          <a:stretch xmlns:a="http://schemas.openxmlformats.org/drawingml/2006/main"/>
        </p:blipFill>
        <p:spPr>
          <a:xfrm xmlns:a="http://schemas.openxmlformats.org/drawingml/2006/main">
            <a:off x="666750" y="2470009"/>
            <a:ext cx="5476875" cy="2632357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DE59-491D-4B65-82F9-1390B891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Интерфейс и адаптивность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6A552-22DF-4D57-A556-84121DCE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мобильная версия на десктопе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неровные срезы фоновой заливки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чекбокс не меняет состояние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кнопка «В избранное» выходит за экран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82126-7A2F-4472-A68D-3A5942E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Сценарии и интеграции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0AE2B-9B76-44D2-A37C-65CE65CA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неверный редирект после Cookie-согласия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MAX не устанавливает session cookies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бот MAX не реагирует на ссылку входа</a:t>
            </a:r>
          </a:p>
          <a:p xmlns:a="http://schemas.openxmlformats.org/drawingml/2006/main">
            <a:pPr marL="165100" indent="-88900">
              <a:spcAft>
                <a:spcPts val="2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дублирование выбора при повторных кликах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F9780-4266-4D5C-9715-0CC89C29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Данные и устойчивость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9111D-FC2D-4301-942C-8843AEA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165100" indent="-88900">
              <a:spcAft>
                <a:spcPts val="1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500 Internal Server Error при редактировании точки</a:t>
            </a:r>
          </a:p>
          <a:p xmlns:a="http://schemas.openxmlformats.org/drawingml/2006/main">
            <a:pPr marL="165100" indent="-88900">
              <a:spcAft>
                <a:spcPts val="1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дубли не попадают в quality</a:t>
            </a:r>
          </a:p>
          <a:p xmlns:a="http://schemas.openxmlformats.org/drawingml/2006/main">
            <a:pPr marL="165100" indent="-88900">
              <a:spcAft>
                <a:spcPts val="100"/>
              </a:spcAft>
              <a:buChar char="•"/>
              <a:def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rate-limit при быстрых повторных действиях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316C3-10AD-4ACA-95F5-CD22032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7</a:t>
            </a:r>
          </a:p>
        </p:txBody>
      </p:sp>
    </p:spTree>
    <p:extLst>
      <p:ext uri="{BB962C8B-B14F-4D97-AF65-F5344CB8AC3E}">
        <p14:creationId xmlns:p14="http://schemas.microsoft.com/office/powerpoint/2010/main" val="1244596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3949D-2895-4969-8024-2A8280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Любимая и нелюбимая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93756-CBCD-4A38-BDB5-F66A4AE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Два реальных дефекта потребовали разных способов исследования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712C6-65C7-43BF-B506-587AB6B5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F8A1C-0DB1-41EA-B4C5-B5D0C69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6EF5"/>
                </a:solidFill>
                <a:latin typeface="Helvetica Neue"/>
                <a:ea typeface="Helvetica Neue"/>
                <a:cs typeface="Helvetica Neue"/>
              </a:rPr>
              <a:t>Любимая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D9EDF-D07D-4303-9C30-ADE2FAEA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Бот MAX не реагирует на ссылку подтверждения входа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40214-B4F2-428C-BE67-DCC07607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Задача потребовала пройти полный сквозной сценарий, сравнить QR-код и прямую ссылку, проверить браузеры и Android/OnePlus, а затем исключить влияние VPN и ассоциаций ссылок.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be6806fc64679"/>
          <a:srcRect xmlns:a="http://schemas.openxmlformats.org/drawingml/2006/main" l="0" t="17796" r="0" b="17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1719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8C63C-FFBF-49FC-BF7D-B7AD94A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565F5"/>
                </a:solidFill>
                <a:latin typeface="Helvetica Neue"/>
                <a:ea typeface="Helvetica Neue"/>
                <a:cs typeface="Helvetica Neue"/>
              </a:rPr>
              <a:t>Нелюбимая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386CA-64FA-4FF8-8A6B-3918D978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193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A31"/>
                </a:solidFill>
                <a:latin typeface="Helvetica Neue"/>
                <a:ea typeface="Helvetica Neue"/>
                <a:cs typeface="Helvetica Neue"/>
              </a:rPr>
              <a:t>Неровные срезы фоновой заливки в Safari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FC687-E2D7-450D-B6F0-83B81756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Дефект зависел от браузерного движка, разрешения и анимации. Его приходилось многократно сравнивать с Chrome и Firefox и точно фиксировать малозаметные визуальные различия.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176e3c19b44d8"/>
          <a:srcRect xmlns:a="http://schemas.openxmlformats.org/drawingml/2006/main" l="0" t="29225" r="0" b="29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4171950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A0D29-2080-4979-BCB9-BE4311AC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993A4"/>
                </a:solidFill>
                <a:latin typeface="Helvetica Neue"/>
                <a:ea typeface="Helvetica Neue"/>
                <a:cs typeface="Helvetica Neue"/>
              </a:rPr>
              <a:t>Gidio  |  Internship  |  8</a:t>
            </a:r>
          </a:p>
        </p:txBody>
      </p:sp>
    </p:spTree>
    <p:extLst>
      <p:ext uri="{BB962C8B-B14F-4D97-AF65-F5344CB8AC3E}">
        <p14:creationId xmlns:p14="http://schemas.microsoft.com/office/powerpoint/2010/main" val="90130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5BB77-4BFF-46E0-9CC3-B872886E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Что дала стажировка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0EF54-366B-4BFD-B8F8-6511212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DC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9DC1FF"/>
                </a:solidFill>
                <a:latin typeface="Helvetica Neue"/>
                <a:ea typeface="Helvetica Neue"/>
                <a:cs typeface="Helvetica Neue"/>
              </a:rPr>
              <a:t>Профессиональные навыки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F0CAE-C121-43F3-82F4-D9FF543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Погружение в документацию и получение доступов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Настройка dev-стенда и рабочего пространства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DevTools, Postman и кроссбраузерные проверки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Приоритизация задач и ориентация на продукт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с разработчиком и командой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BD483-7913-41E8-BEE0-C0ACFA6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A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6AFFF"/>
                </a:solidFill>
                <a:latin typeface="Helvetica Neue"/>
                <a:ea typeface="Helvetica Neue"/>
                <a:cs typeface="Helvetica Neue"/>
              </a:rPr>
              <a:t>Итоговый вклад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17220-655A-4F77-B1EB-4781C29B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шести релизах команда исправила визуальные и функциональные дефекты, найденные в ходе тестирования.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6622078f44479"/>
          <a:srcRect xmlns:a="http://schemas.openxmlformats.org/drawingml/2006/main" l="19419" t="0" r="19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952500"/>
            <a:ext cx="533400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11435-5FF2-4A6C-B41C-13D83309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531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6E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6E3FF"/>
                </a:solidFill>
                <a:latin typeface="Helvetica Neue"/>
                <a:ea typeface="Helvetica Neue"/>
                <a:cs typeface="Helvetica Neue"/>
              </a:rPr>
              <a:t>69 баг-репортов  ·  12 тест-кейсов  ·  9 чек-листов</a:t>
            </a:r>
          </a:p>
        </p:txBody>
      </p:sp>
    </p:spTree>
    <p:extLst>
      <p:ext uri="{BB962C8B-B14F-4D97-AF65-F5344CB8AC3E}">
        <p14:creationId xmlns:p14="http://schemas.microsoft.com/office/powerpoint/2010/main" val="957704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2026-09-26T03:43:18.4770000Z</dcterms:created>
  <dcterms:modified xsi:type="dcterms:W3CDTF">2026-09-26T03:43:18.4770000Z</dcterms:modified>
</coreProperties>
</file>